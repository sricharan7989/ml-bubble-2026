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13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3324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BUBBLE 2026  ·  TE-BE ADVANCED TRACK  ·  FINTECH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FairCredit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Explainable, fairness-audited credit default prediction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real engineering lives </a:t>
            </a:r>
            <a:pPr indent="0" marL="0">
              <a:buNone/>
            </a:pPr>
            <a:r>
              <a:rPr lang="en-US" sz="15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AUC: cost-aware, fair, and explainable decisions.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892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5440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4892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5440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4892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5440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equal-opp gap 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0" y="4892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9680" y="5440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Kancharla &amp; Kancharla Sricharan  ·  IIIT Sri City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high AUC is not a deployable lending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default looks solved. But a bank cannot ship a model that is only accurate — it is regulated on three things that pure accuracy ignores: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CBD5E1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blindness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0.5 cutoff assumes approving a defaulter costs the same as rejecting a good customer. It does not — one loses principal.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CBD5E1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60604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Unfair decisions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9319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high-AUC model can still approve or reject protected groups at systematically different rates. That is illegal, not just unkind.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CBD5E1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60604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5820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denials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58200" y="39319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Fair-lending rules require the lender to give the specific reasons for an adverse decision. A raw probability cannot.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9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FairCredit adds cost-sensitivity, a fairness audit + mitigation, and reason codes on top of a strong comparative baseline.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FairCredit · ML Bubble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months of behaviour → next-month default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ML: default is driven by non-linear interactions across a repayment panel that hand-written rules capture poorly. Gradient-boosted trees model them directly and, via SHAP, expose the drivers.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43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credit-card clients (Taiwan, 2005)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0" y="26060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2743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22.1%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069080" y="3383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— genuinely imbalanced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60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7240" y="4800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19 engineered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840480" y="402336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4160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64/16/20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069080" y="4800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seeded, leakage-safe splits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52360" y="1463040"/>
            <a:ext cx="4206240" cy="4754880"/>
          </a:xfrm>
          <a:prstGeom prst="roundRect">
            <a:avLst>
              <a:gd name="adj" fmla="val 2174"/>
            </a:avLst>
          </a:prstGeom>
          <a:solidFill>
            <a:srgbClr val="0B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signal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726680" y="23774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01000" y="26243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÷ credit limit, per month + mean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26680" y="331012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3264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ratio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01000" y="35570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÷ previous bill, per month + mean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26680" y="424281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41970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01000" y="448970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in arrears, max &amp; mean delay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26680" y="517550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0" y="5129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&amp; trend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01000" y="5422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bill, total paid, 6-month trend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FairCredit · ML Bubble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leakage-safe, five-stage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103120" cy="228600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messy codes, engineer 42 features, stratified split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78608" y="3246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39312" y="1965960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16352" y="2697480"/>
            <a:ext cx="2103120" cy="228600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99232" y="329184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 imbalance-aware models, rank by AUPRC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3246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5907024" y="1965960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5907024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84064" y="2697480"/>
            <a:ext cx="2103120" cy="228600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266944" y="329184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decision threshold on validation, 5:1 cost ratio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14032" y="3246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174736" y="19659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174736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51776" y="2697480"/>
            <a:ext cx="2103120" cy="2286000"/>
          </a:xfrm>
          <a:prstGeom prst="roundRect">
            <a:avLst>
              <a:gd name="adj" fmla="val 4348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8936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34656" y="329184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bias across sex, mitigate with group thresholds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381744" y="3246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10442448" y="1965960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29" name="Text 27"/>
          <p:cNvSpPr/>
          <p:nvPr/>
        </p:nvSpPr>
        <p:spPr>
          <a:xfrm>
            <a:off x="10442448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619488" y="2697480"/>
            <a:ext cx="2103120" cy="228600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56648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802368" y="329184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 drivers + per-applicant reason codes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44068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0B1F33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Rigour: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is touched exactly once. Model choice and thresholds are decided on validation only — no leakage, so the reported numbers are honest.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FairCredit · ML Bubble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models, one clear winner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35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60120"/>
                <a:gridCol w="960120"/>
                <a:gridCol w="960120"/>
                <a:gridCol w="960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AUPRC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 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4340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Narrative. 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baseline is respectable, but the boosters add ~3.5 AUROC and ~6 AUPRC points by modelling repayment-panel interactions. XGBoost wins on validation AUPRC and is selected; LightGBM is the pick if latency matters.</a:t>
            </a:r>
            <a:endParaRPr lang="en-US" sz="1350" dirty="0"/>
          </a:p>
        </p:txBody>
      </p:sp>
      <p:pic>
        <p:nvPicPr>
          <p:cNvPr id="6" name="Image 0" descr="outputs/metric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965960"/>
            <a:ext cx="466344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0" y="461772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is the headline metric — on a 22%-positive target, plain accuracy is misleading (predict “no default” for all ≈ 78%).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FairCredit · ML Bubble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DECISIONING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is an accident, not a decision</a:t>
            </a:r>
            <a:endParaRPr lang="en-US" sz="3000" dirty="0"/>
          </a:p>
        </p:txBody>
      </p:sp>
      <p:pic>
        <p:nvPicPr>
          <p:cNvPr id="4" name="Image 0" descr="outputs/cost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548640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0" y="17830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negative (approve a defaulter) loses principal — far costlier than a false positive (reject a good customer). Under a 5:1 cost ratio, sweeping the threshold on validation moves the optimal cutoff to 0.375.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949440" y="3703320"/>
            <a:ext cx="4754880" cy="2148840"/>
          </a:xfrm>
          <a:prstGeom prst="roundRect">
            <a:avLst>
              <a:gd name="adj" fmla="val 4255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0" y="38862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9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132320" y="48463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expected cost per applicant vs the naive 0.5 cutoff — on the untouched test set, from choosing the operating point deliberately.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FairCredit · ML Bubble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 + MITIGATION  ·  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the bias gap — then narrowing it</a:t>
            </a:r>
            <a:endParaRPr lang="en-US" sz="3000" dirty="0"/>
          </a:p>
        </p:txBody>
      </p:sp>
      <p:pic>
        <p:nvPicPr>
          <p:cNvPr id="4" name="Image 0" descr="outputs/fairness_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680960" cy="25146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76809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metric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Equal-opportunity (TPR)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9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parity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9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Disparate-impact ratio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9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8549640" y="1554480"/>
            <a:ext cx="3154680" cy="4617720"/>
          </a:xfrm>
          <a:prstGeom prst="roundRect">
            <a:avLst>
              <a:gd name="adj" fmla="val 2899"/>
            </a:avLst>
          </a:prstGeom>
          <a:solidFill>
            <a:srgbClr val="0B1F33"/>
          </a:solidFill>
          <a:ln/>
        </p:spPr>
      </p:sp>
      <p:sp>
        <p:nvSpPr>
          <p:cNvPr id="7" name="Text 3"/>
          <p:cNvSpPr/>
          <p:nvPr/>
        </p:nvSpPr>
        <p:spPr>
          <a:xfrm>
            <a:off x="877824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778240" y="219456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equalise true-positive rate across groups with per-group decision thresholds </a:t>
            </a:r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(male 0.385, female 0.36)</a:t>
            </a:r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chosen on validation.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778240" y="3840480"/>
            <a:ext cx="2697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deploy-time control </a:t>
            </a:r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trained model is untouched, ranking power (AUPRC) unchanged. The equal-opportunity gap narrows ~20%; the FPR gap widens (0.020→0.026), which points to equalized odds next.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FairCredit · ML Bubble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black box to reason codes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— why this applicant (p = 0.96) was declined</a:t>
            </a:r>
            <a:endParaRPr lang="en-US" sz="1600" dirty="0"/>
          </a:p>
        </p:txBody>
      </p:sp>
      <p:pic>
        <p:nvPicPr>
          <p:cNvPr id="5" name="Image 0" descr="outputs/shap_reasonc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5806440" cy="323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940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drivers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29400" y="224028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whole portfolio the same signals dominate: most-recent repayment status, months in arrears, and worst delay — consistent with credit intuition.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2940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Adverse-action reasons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29400" y="406908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declined applicant the model emits ranked, plain-language reasons — exactly the disclosure a lender is legally required to give.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29400" y="516636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12280" y="52578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faithful: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sigmoid(base + Σ SHAP) matches the model probability to 1e-4 — the explanation is arithmetic, not decoration.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FairCredit · ML Bubble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CONSIDERATIONS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Shipped, not just trained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00" cy="132588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}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18745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API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2402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/score endpoint returns probability, an approve/decline decision at the cost-optimal threshold, and reason codes. Stateless, container-ready, OpenAPI docs.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7315200" cy="132588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2044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20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33832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7490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to score an applicant, browse the model comparison, and inspect the fairness audit — the demo judges can click.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7315200" cy="132588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2920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9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48920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notes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52578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&amp; cost ratio are config, not code, so risk teams retune them. Fairness thresholds re-audited each retrain and monitored for drift.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169164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/score  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233172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"default_probability":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0.906,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"decision": "DECLINE",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"threshold": 0.375,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"reason_codes": 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"PAY_1 = 2",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"DELINQ_MONTHS = 6",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"MAX_DELAY = 2"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FairCredit · ML Bubble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do before it touches real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0848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vintage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542032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Single-country 2005 data. Retrain on current, local data before any real use.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103120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attributes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2542032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is the only protected field here; a real audit adds age bands &amp; intersectional groups.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0507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mitigation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507992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mitigation is transparent; in-processing (adversarial debiasing) can go further.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069080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40507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4507992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Platt/Isotonic layer — the decision is threshold-based, so calibrated probabilities matter.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9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these is the point — a model that knows its own limits is the one worth deploying.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FairCredit · ML Bubble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3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3657600" cy="3657600"/>
          </a:xfrm>
          <a:prstGeom prst="ellipse">
            <a:avLst/>
          </a:prstGeom>
          <a:solidFill>
            <a:srgbClr val="13324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FAIRCREDIT WINS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teams stop at AUC.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shipped the model a bank could actually deploy.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9136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analysis, XGBoost wins on AUPRC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361188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Cost-aware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9136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5:1 threshold, 1.8% lower expected cost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361188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39136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equal-opportunity gap 0.0161 → 0.0129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14807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adverse-action reason codes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484632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514807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live demo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484632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514807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seeded, one-command run, clean repo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Kancharla &amp; Kancharla Sricharan  ·  IIIT Sri City  ·  github.com/Sricharan7989/ML-Bubble-2026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2026-08-07T08:31:24Z</dcterms:created>
  <dcterms:modified xsi:type="dcterms:W3CDTF">2026-08-07T08:31:24Z</dcterms:modified>
</cp:coreProperties>
</file>