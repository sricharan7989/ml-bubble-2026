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389120" cy="4389120"/>
          </a:xfrm>
          <a:prstGeom prst="ellipse">
            <a:avLst/>
          </a:prstGeom>
          <a:solidFill>
            <a:srgbClr val="13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13324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BUBBLE 2026  ·  TE-BE ADVANCED TRACK  ·  FINTECH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FairCredit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Explainable, fairness-audited credit default prediction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real engineering lives </a:t>
            </a:r>
            <a:pPr indent="0" marL="0">
              <a:buNone/>
            </a:pPr>
            <a:r>
              <a:rPr lang="en-US" sz="15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AUC: cost-aware, fair, and explainable decisions.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30,000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440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383280" y="5440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compared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0.028→0.001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126480" y="5440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gap cut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869680" y="5440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Siddharth Kancharla  ·  IIIT Sri City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high AUC is not a deployable lending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default looks solved. But a bank cannot ship a model that is only accurate — it is regulated on three things that pure accuracy ignores: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06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blindness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93192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0.5 cutoff assumes approving a defaulter costs the same as rejecting a good customer. It does not — one loses principal.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6060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63440" y="3429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Unfair decisions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high-AUC model can still approve or reject protected groups at systematically different rates. That is illegal, not just unkind.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228600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606040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458200" y="3429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Black-box denials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458200" y="393192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Fair-lending rules require the lender to give the specific reasons for an adverse decision. A raw probability cannot.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9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adds cost-sensitivity, a fairness audit + mitigation, and reason codes on top of a strong comparative baseline.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RATIONALE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months of behaviour → next-month default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ML: default is driven by non-linear interactions across a repayment panel that hand-written rules capture poorly. Gradient-boosted trees model them directly and, via SHAP, expose the drivers.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7432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9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383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credit-card clients (Taiwan, 2005)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840480" y="260604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69080" y="27432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9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069080" y="3383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 — genuinely imbalanced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1605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9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7240" y="48006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behavioural features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840480" y="40233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69080" y="41605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9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64/16/20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069080" y="48006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seeded, leakage-safe splits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52360" y="1463040"/>
            <a:ext cx="4206240" cy="4754880"/>
          </a:xfrm>
          <a:prstGeom prst="roundRect">
            <a:avLst>
              <a:gd name="adj" fmla="val 2174"/>
            </a:avLst>
          </a:prstGeom>
          <a:solidFill>
            <a:srgbClr val="0B1F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2668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signal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726680" y="237744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800100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01000" y="26243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÷ credit limit, per month + mean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26680" y="331012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8001000" y="32644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ratio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001000" y="355701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÷ previous bill, per month + mean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726680" y="4242816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001000" y="41970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Delinquency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01000" y="448970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in arrears, max &amp; mean delay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26680" y="51755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8001000" y="512978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&amp; trend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001000" y="542239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bill, total paid, 6-month trend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leakage-safe, five-stage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196596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880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messy codes, engineer 42 features, stratified split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578608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639312" y="196596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16352" y="269748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880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99232" y="329184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4 imbalance-aware models, rank by AUPRC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0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907024" y="196596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7" name="Text 15"/>
          <p:cNvSpPr/>
          <p:nvPr/>
        </p:nvSpPr>
        <p:spPr>
          <a:xfrm>
            <a:off x="5907024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084064" y="269748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21224" y="2880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266944" y="329184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decision threshold on validation, 5:1 cost ratio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14032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174736" y="196596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8174736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351776" y="269748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88936" y="2880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34656" y="329184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bias across sex, mitigate with group thresholds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381744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0442448" y="196596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29" name="Text 27"/>
          <p:cNvSpPr/>
          <p:nvPr/>
        </p:nvSpPr>
        <p:spPr>
          <a:xfrm>
            <a:off x="10442448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619488" y="269748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56648" y="2880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802368" y="329184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global drivers + per-applicant reason codes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0B1F33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Rigour: 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touched exactly once. Model choice and thresholds are decided on validation only — no leakage, so the reported numbers are honest.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models, one clear winner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60120"/>
                <a:gridCol w="960120"/>
                <a:gridCol w="960120"/>
                <a:gridCol w="960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 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34340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9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Narrative.  </a:t>
            </a:r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linear baseline is respectable, but the boosters add ~3.5 AUROC and ~6 AUPRC points by modelling repayment-panel interactions. XGBoost wins on validation AUPRC and is selected; LightGBM is the pick if latency matters.</a:t>
            </a:r>
            <a:endParaRPr lang="en-US" sz="1350" dirty="0"/>
          </a:p>
        </p:txBody>
      </p:sp>
      <p:pic>
        <p:nvPicPr>
          <p:cNvPr id="6" name="Image 0" descr="outputs/roc_pr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48840"/>
            <a:ext cx="4892040" cy="19476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12280" y="4297680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AUPRC is the headline metric — on a 22%-positive target, plain accuracy is misleading (predict “no default” for all ≈ 78%).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COST-SENSITIVE DECISIONING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 is an accident, not a decision</a:t>
            </a:r>
            <a:endParaRPr lang="en-US" sz="3000" dirty="0"/>
          </a:p>
        </p:txBody>
      </p:sp>
      <p:pic>
        <p:nvPicPr>
          <p:cNvPr id="4" name="Image 0" descr="outputs/cost_thresh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37307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17830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negative (approve a defaulter) loses principal — far costlier than a false positive (reject a good customer). Under a 5:1 cost ratio, sweeping the threshold on validation moves the optimal cutoff to 0.355.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949440" y="3703320"/>
            <a:ext cx="4754880" cy="2148840"/>
          </a:xfrm>
          <a:prstGeom prst="roundRect">
            <a:avLst>
              <a:gd name="adj" fmla="val 4255"/>
            </a:avLst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0" y="388620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E9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3.2%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7132320" y="484632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expected cost per applicant vs the naive 0.5 cutoff — on the untouched test set, from choosing the operating point deliberately.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+ MITIGATION  ·  THE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Cutting the bias gap without losing power</a:t>
            </a:r>
            <a:endParaRPr lang="en-US" sz="3000" dirty="0"/>
          </a:p>
        </p:txBody>
      </p:sp>
      <p:pic>
        <p:nvPicPr>
          <p:cNvPr id="4" name="Image 0" descr="outputs/fairness_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680960" cy="25146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76809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metric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Equal-opportunity (TPR)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E9C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 parity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E9C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Disparate-impact ratio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E9C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8549640" y="1554480"/>
            <a:ext cx="3154680" cy="4617720"/>
          </a:xfrm>
          <a:prstGeom prst="roundRect">
            <a:avLst>
              <a:gd name="adj" fmla="val 2899"/>
            </a:avLst>
          </a:prstGeom>
          <a:solidFill>
            <a:srgbClr val="0B1F33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8778240" y="2194560"/>
            <a:ext cx="2697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equalise true-positive rate across groups with per-group decision thresholds </a:t>
            </a:r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(male 0.375, female 0.355)</a:t>
            </a:r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chosen on validation.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778240" y="384048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deploy-time control </a:t>
            </a:r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trained model is untouched, and ranking power (AUPRC) is unchanged. The equal-opportunity gap collapses ~97%.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black box to reason codes</a:t>
            </a:r>
            <a:endParaRPr lang="en-US" sz="3000" dirty="0"/>
          </a:p>
        </p:txBody>
      </p:sp>
      <p:pic>
        <p:nvPicPr>
          <p:cNvPr id="4" name="Image 0" descr="outputs/shap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57200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94960" y="1737360"/>
            <a:ext cx="6309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across the portfolio, most-recent repayment status, delinquent months, and worst delay dominate default risk — consistent with credit intuition.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394960" y="292608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Local: reason codes for a high-risk applicant (p = 0.96)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394960" y="3429000"/>
            <a:ext cx="630936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342900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PAY_1 = 3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0" y="342900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months delayed on the latest bill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698480" y="3429000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+0.86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394960" y="4087368"/>
            <a:ext cx="630936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32120" y="408736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DELINQ_MONTHS = 6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772400" y="408736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arrears every month of the panel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698480" y="4087368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+0.54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394960" y="4745736"/>
            <a:ext cx="630936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32120" y="474573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MAX_DELAY = 7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772400" y="474573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delay of seven months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98480" y="4745736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+0.39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394960" y="5404104"/>
            <a:ext cx="630936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532120" y="540410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MEAN_DELAY = 4.7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772400" y="5404104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 across the panel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698480" y="5404104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+0.15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394960" y="608076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9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exactly the adverse-action reasons a lender must disclose.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CONSIDERATIONS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Shipped, not just trained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3152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 }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83080" y="187452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API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24028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/score endpoint returns probability, an approve/decline decision at the cost-optimal threshold, and reason codes. Stateless, container-ready, OpenAPI docs.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73152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0440"/>
            <a:ext cx="685800" cy="6858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204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▦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33832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dashboard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74904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to score an applicant, browse the model comparison, and inspect the fairness audit — the demo judges can click.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73152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489204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notes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83080" y="525780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&amp; cost ratio are config, not code, so risk teams retune them. Fairness thresholds re-audited each retrain and monitored for drift.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691640"/>
            <a:ext cx="3520440" cy="4617720"/>
          </a:xfrm>
          <a:prstGeom prst="roundRect">
            <a:avLst>
              <a:gd name="adj" fmla="val 2597"/>
            </a:avLst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874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/score  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2004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"default_probability":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0.906,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"decision": "DECLINE",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"threshold": 0.355,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"reason_codes": [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"PAY_1 = 2",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"DELINQ_MONTHS = 6",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"MAX_DELAY = 2"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do before it touches real money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08483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vintage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542032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Single-country 2005 data. Retrain on current, local data before any real use.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86600" y="208483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attributes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86600" y="2542032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is the only protected field here; a real audit adds age bands &amp; intersectional groups.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05079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Stronger mitigation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507992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mitigation is transparent; in-processing (adversarial debiasing) can go further.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72200" y="37947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4069080"/>
            <a:ext cx="457200" cy="457200"/>
          </a:xfrm>
          <a:prstGeom prst="ellipse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86600" y="405079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86600" y="4507992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Platt/Isotonic layer — the decision is threshold-based, so calibrated probabilities matter.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9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these is the point — a model that knows its own limits is the one worth deploying.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FairCredit · ML Bubble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13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657600" cy="3657600"/>
          </a:xfrm>
          <a:prstGeom prst="ellipse">
            <a:avLst/>
          </a:prstGeom>
          <a:solidFill>
            <a:srgbClr val="13324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FAIRCREDIT WINS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teams stop at AUC.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shipped the model a bank could actually deploy.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566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91363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analysis, XGBoost wins on AUPRC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3566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Cost-aware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391363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5:1 threshold, 3.2% lower expected cost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3566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0" y="391363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equal-opportunity gap 0.028 → 0.001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8463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800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514807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adverse-action reason codes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89120" y="48463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4800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663440" y="514807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Streamlit live demo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38160" y="48463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0" y="4800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514807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seeded, one-command run, clean repo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Siddharth Kancharla  ·  IIIT Sri City  ·  github.com/&lt;your-handle&gt;/faircredit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2026-08-05T14:34:49Z</dcterms:created>
  <dcterms:modified xsi:type="dcterms:W3CDTF">2026-08-05T14:34:49Z</dcterms:modified>
</cp:coreProperties>
</file>